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65" r:id="rId5"/>
    <p:sldId id="264" r:id="rId6"/>
    <p:sldId id="263" r:id="rId7"/>
    <p:sldId id="262" r:id="rId8"/>
    <p:sldId id="261" r:id="rId9"/>
    <p:sldId id="260" r:id="rId10"/>
    <p:sldId id="259" r:id="rId11"/>
    <p:sldId id="258" r:id="rId12"/>
    <p:sldId id="269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1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4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28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03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0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5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91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07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73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7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74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5EEB8-E1AF-425F-BC9A-124B22783B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06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9076" y="495273"/>
            <a:ext cx="9144000" cy="2856810"/>
          </a:xfrm>
        </p:spPr>
        <p:txBody>
          <a:bodyPr>
            <a:normAutofit/>
          </a:bodyPr>
          <a:lstStyle/>
          <a:p>
            <a:pPr>
              <a:defRPr sz="2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ACTIVE SUSPENSION SYSTEM</a:t>
            </a:r>
          </a:p>
          <a:p>
            <a:pPr>
              <a:defRPr sz="26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KL Deemed to be University</a:t>
            </a:r>
          </a:p>
          <a:p>
            <a:pPr>
              <a:defRPr sz="2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Aziz Nagar Campus</a:t>
            </a:r>
          </a:p>
          <a:p>
            <a:pPr>
              <a:defRPr sz="26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9440"/>
          </a:xfrm>
        </p:spPr>
        <p:txBody>
          <a:bodyPr>
            <a:normAutofit/>
          </a:bodyPr>
          <a:lstStyle/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2310040027 (Rizwan)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2310040029 (Anush Thak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2310040097 (Aniket Panda)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2310040132 (Ravi Ratna)</a:t>
            </a:r>
          </a:p>
          <a:p>
            <a:pPr>
              <a:defRPr sz="1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Dr Amit Shrivastava, Asst. Professor/ECE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1" y="82428"/>
            <a:ext cx="1926615" cy="8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suspension affects passenger comfort, road holding, and vehicle stability.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suspension has fixed spring and damping characteristics, creating a comfort–stability trade-off.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suspension uses an actuator to generate controllable force against road disturbances.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 laboratory-scale quarter-car active suspension test bench.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a spring-damper mechanism, 12 V linear actuator, MPU6050 IMU, and STM32.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 control and a Python/Streamlit interface support real-time control, visualization, tuning, and data logging.</a:t>
            </a:r>
          </a:p>
        </p:txBody>
      </p:sp>
    </p:spTree>
    <p:extLst>
      <p:ext uri="{BB962C8B-B14F-4D97-AF65-F5344CB8AC3E}">
        <p14:creationId xmlns:p14="http://schemas.microsoft.com/office/powerpoint/2010/main" val="148036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suspension systems cannot dynamically adapt to changing road disturbances.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characteristics create a trade-off between ride comfort, body motion, tire contact, and stability.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Full-scale active-suspension testing is costly, mechanically complex, and difficult to reproduce.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compact, isolated, data-rich quarter-car test bench is needed for repeatable controller evaluation.</a:t>
            </a:r>
          </a:p>
        </p:txBody>
      </p:sp>
    </p:spTree>
    <p:extLst>
      <p:ext uri="{BB962C8B-B14F-4D97-AF65-F5344CB8AC3E}">
        <p14:creationId xmlns:p14="http://schemas.microsoft.com/office/powerpoint/2010/main" val="41544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objective: Develop a quarter-car active suspension test bench for real-time control and evaluation.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single-wheel electromechanical suspension using STM32, MPU6050 IMU, and linear actuator.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PID control to reduce road-induced sprung-mass vibration.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repeatable laboratory testing and local data-acquisition platform.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telemetry, data logging, controller tuning, and active-versus-passive comparison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35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Fabricate a single-wheel quarter-car rig with spring, RC shock absorber, actuator, and structural frame.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STM32, MPU6050 IMU, motor driver, and supporting sensors.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embedded PID control with a target 10–20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cycle.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local Python/Streamlit dashboard for telemetry, commands, indicators, and logging.</a:t>
            </a:r>
          </a:p>
          <a:p>
            <a:pPr>
              <a:defRPr sz="17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Full-scale vehicle modification and ML-based control are outside the present phase; collected data support future AI research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0246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Literature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Hrovat established theoretical foundations for active-suspension modelling and optimal control using quarter-, half-, and full-car models.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 is practical for an initial hardware prototype because it is simple, computationally light, and suitable for real-time implementation.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sliding-mode, T-S fuzzy, LQR, and fuzzy controllers address nonlinearities but increase implementation complexity.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work explores data-driven control, model predictive control, nonlinear disturbance rejection, and intelligent suspension methods.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studies emphasize sprung-mass acceleration, suspension deflection, and settling time as measurable performance indicators.</a:t>
            </a:r>
          </a:p>
          <a:p>
            <a:pPr>
              <a:defRPr sz="15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 compact, low-cost STM32/IMU/PID physical bench with a local data-acquisition pipeline.</a:t>
            </a:r>
          </a:p>
        </p:txBody>
      </p:sp>
    </p:spTree>
    <p:extLst>
      <p:ext uri="{BB962C8B-B14F-4D97-AF65-F5344CB8AC3E}">
        <p14:creationId xmlns:p14="http://schemas.microsoft.com/office/powerpoint/2010/main" val="360849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Research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683082"/>
              </p:ext>
            </p:extLst>
          </p:nvPr>
        </p:nvGraphicFramePr>
        <p:xfrm>
          <a:off x="640080" y="1240403"/>
          <a:ext cx="10515599" cy="48245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873">
                  <a:extLst>
                    <a:ext uri="{9D8B030D-6E8A-4147-A177-3AD203B41FA5}">
                      <a16:colId xmlns:a16="http://schemas.microsoft.com/office/drawing/2014/main" val="1203520007"/>
                    </a:ext>
                  </a:extLst>
                </a:gridCol>
                <a:gridCol w="1429014">
                  <a:extLst>
                    <a:ext uri="{9D8B030D-6E8A-4147-A177-3AD203B41FA5}">
                      <a16:colId xmlns:a16="http://schemas.microsoft.com/office/drawing/2014/main" val="3699751063"/>
                    </a:ext>
                  </a:extLst>
                </a:gridCol>
                <a:gridCol w="808029">
                  <a:extLst>
                    <a:ext uri="{9D8B030D-6E8A-4147-A177-3AD203B41FA5}">
                      <a16:colId xmlns:a16="http://schemas.microsoft.com/office/drawing/2014/main" val="132923010"/>
                    </a:ext>
                  </a:extLst>
                </a:gridCol>
                <a:gridCol w="1997627">
                  <a:extLst>
                    <a:ext uri="{9D8B030D-6E8A-4147-A177-3AD203B41FA5}">
                      <a16:colId xmlns:a16="http://schemas.microsoft.com/office/drawing/2014/main" val="344352433"/>
                    </a:ext>
                  </a:extLst>
                </a:gridCol>
                <a:gridCol w="1994242">
                  <a:extLst>
                    <a:ext uri="{9D8B030D-6E8A-4147-A177-3AD203B41FA5}">
                      <a16:colId xmlns:a16="http://schemas.microsoft.com/office/drawing/2014/main" val="2557891362"/>
                    </a:ext>
                  </a:extLst>
                </a:gridCol>
                <a:gridCol w="1339066">
                  <a:extLst>
                    <a:ext uri="{9D8B030D-6E8A-4147-A177-3AD203B41FA5}">
                      <a16:colId xmlns:a16="http://schemas.microsoft.com/office/drawing/2014/main" val="3556674552"/>
                    </a:ext>
                  </a:extLst>
                </a:gridCol>
                <a:gridCol w="945222">
                  <a:extLst>
                    <a:ext uri="{9D8B030D-6E8A-4147-A177-3AD203B41FA5}">
                      <a16:colId xmlns:a16="http://schemas.microsoft.com/office/drawing/2014/main" val="1074378822"/>
                    </a:ext>
                  </a:extLst>
                </a:gridCol>
                <a:gridCol w="1437526">
                  <a:extLst>
                    <a:ext uri="{9D8B030D-6E8A-4147-A177-3AD203B41FA5}">
                      <a16:colId xmlns:a16="http://schemas.microsoft.com/office/drawing/2014/main" val="1154415511"/>
                    </a:ext>
                  </a:extLst>
                </a:gridCol>
              </a:tblGrid>
              <a:tr h="858477">
                <a:tc>
                  <a:txBody>
                    <a:bodyPr/>
                    <a:lstStyle/>
                    <a:p>
                      <a:pPr algn="ctr" fontAlgn="ctr">
                        <a:defRPr sz="700"/>
                      </a:pPr>
                      <a:r>
                        <a:rPr lang="en-IN" sz="15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r>
                        <a:rPr lang="en-IN" sz="1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defRPr sz="700"/>
                      </a:pPr>
                      <a:r>
                        <a:rPr lang="en-IN" sz="1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Authur Names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defRPr sz="700"/>
                      </a:pPr>
                      <a:r>
                        <a:rPr lang="en-IN" sz="1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defRPr sz="700"/>
                      </a:pPr>
                      <a:r>
                        <a:rPr lang="en-IN" sz="1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Journal/Conference/Book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defRPr sz="700"/>
                      </a:pPr>
                      <a:r>
                        <a:rPr lang="en-IN" sz="1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defRPr sz="700"/>
                      </a:pPr>
                      <a:r>
                        <a:rPr lang="en-IN" sz="1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defRPr sz="700"/>
                      </a:pPr>
                      <a:r>
                        <a:rPr lang="en-IN" sz="1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defRPr sz="700"/>
                      </a:pPr>
                      <a:r>
                        <a:rPr lang="en-IN" sz="1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Identified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07225380"/>
                  </a:ext>
                </a:extLst>
              </a:tr>
              <a:tr h="620466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Shafiei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JIE India: Series 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PID quarter-car active suspension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PID under road bumps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body response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Simulation-oriented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0805817"/>
                  </a:ext>
                </a:extLst>
              </a:tr>
              <a:tr h="858477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Mahmoodabadi &amp; Nejadkourki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Australian Journal of Mechanical Engineering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 adaptive robust PID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robust PID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acceleration/deflection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complexity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6780592"/>
                  </a:ext>
                </a:extLst>
              </a:tr>
              <a:tr h="556855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Maradey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Lázaro et al.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IJAME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active suspension control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LQG/LQR simulation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Optimal-control evaluation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low-cost bench integration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9138964"/>
                  </a:ext>
                </a:extLst>
              </a:tr>
              <a:tr h="858477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Abut &amp; Salkim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Sciences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fuzzy-LQR control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LQR/fuzzy/fuzzy-LQR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 comparison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for first prototype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0852464"/>
                  </a:ext>
                </a:extLst>
              </a:tr>
              <a:tr h="858477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Watanabe et al.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Chaos, Solitons &amp; Fractals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Delayed-feedback active suspension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Nonlinear quarter-car model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Vibration suppression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bench integration gap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785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070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7F632-34AF-ADEE-0A8D-31A0779CA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436" y="1028700"/>
            <a:ext cx="9371127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/>
              <a:t>Functional Test Bench:</a:t>
            </a:r>
            <a:r>
              <a:rPr lang="en-IN" dirty="0"/>
              <a:t> Development of a physical single-wheel quarter-car test bench that accurately reproduces controlled suspension disturbances and vehicle-like vertical dynamics. </a:t>
            </a:r>
          </a:p>
          <a:p>
            <a:pPr lvl="0"/>
            <a:r>
              <a:rPr lang="en-IN" b="1" dirty="0"/>
              <a:t>Active PID Control:</a:t>
            </a:r>
            <a:r>
              <a:rPr lang="en-IN" dirty="0"/>
              <a:t> Implementation of a real-time closed-loop PID controller on an STM32 microcontroller that successfully reduces sprung-mass vibration compared to passive conditions. </a:t>
            </a:r>
          </a:p>
          <a:p>
            <a:pPr lvl="0"/>
            <a:r>
              <a:rPr lang="en-IN" b="1" dirty="0"/>
              <a:t>Interactive Dashboard:</a:t>
            </a:r>
            <a:r>
              <a:rPr lang="en-IN" dirty="0"/>
              <a:t> Creation of a local </a:t>
            </a:r>
            <a:r>
              <a:rPr lang="en-IN" dirty="0" err="1"/>
              <a:t>Streamlit</a:t>
            </a:r>
            <a:r>
              <a:rPr lang="en-IN" dirty="0"/>
              <a:t> host application for real-time telemetry visualization, controller tuning, and experiment monitoring. </a:t>
            </a:r>
          </a:p>
          <a:p>
            <a:pPr lvl="0"/>
            <a:r>
              <a:rPr lang="en-IN" b="1" dirty="0"/>
              <a:t>Data-Logging Pipeline:</a:t>
            </a:r>
            <a:r>
              <a:rPr lang="en-IN" dirty="0"/>
              <a:t> Establishment of a reliable data-acquisition system that records sensor and actuator data for quantitative performance comparison. </a:t>
            </a:r>
          </a:p>
          <a:p>
            <a:pPr lvl="0"/>
            <a:r>
              <a:rPr lang="en-IN" b="1" dirty="0"/>
              <a:t>System Validation:</a:t>
            </a:r>
            <a:r>
              <a:rPr lang="en-IN" dirty="0"/>
              <a:t> Successful validation of the test bench using step and harmonic road inputs to demonstrate a safe, repeatable, and cost-effective laboratory testing platform</a:t>
            </a:r>
          </a:p>
        </p:txBody>
      </p:sp>
    </p:spTree>
    <p:extLst>
      <p:ext uri="{BB962C8B-B14F-4D97-AF65-F5344CB8AC3E}">
        <p14:creationId xmlns:p14="http://schemas.microsoft.com/office/powerpoint/2010/main" val="301148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382" y="460542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Arrangements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A504C4-1B16-8B2C-C7D6-5D62960FF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264751"/>
              </p:ext>
            </p:extLst>
          </p:nvPr>
        </p:nvGraphicFramePr>
        <p:xfrm>
          <a:off x="1809363" y="1669774"/>
          <a:ext cx="8128000" cy="36136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842483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020259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48031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03688467"/>
                    </a:ext>
                  </a:extLst>
                </a:gridCol>
              </a:tblGrid>
              <a:tr h="439374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792436"/>
                  </a:ext>
                </a:extLst>
              </a:tr>
              <a:tr h="546981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 Microcontroller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real-time control unit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₹800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extLst>
                  <a:ext uri="{0D108BD9-81ED-4DB2-BD59-A6C34878D82A}">
                    <a16:rowId xmlns:a16="http://schemas.microsoft.com/office/drawing/2014/main" val="1095866668"/>
                  </a:ext>
                </a:extLst>
              </a:tr>
              <a:tr h="546981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12V Linear Actuator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US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Actuator for active suspension force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₹2,500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extLst>
                  <a:ext uri="{0D108BD9-81ED-4DB2-BD59-A6C34878D82A}">
                    <a16:rowId xmlns:a16="http://schemas.microsoft.com/office/drawing/2014/main" val="535428861"/>
                  </a:ext>
                </a:extLst>
              </a:tr>
              <a:tr h="546981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MPU6050 &amp; Sensors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IMU and linear potentiometers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₹600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extLst>
                  <a:ext uri="{0D108BD9-81ED-4DB2-BD59-A6C34878D82A}">
                    <a16:rowId xmlns:a16="http://schemas.microsoft.com/office/drawing/2014/main" val="1980872575"/>
                  </a:ext>
                </a:extLst>
              </a:tr>
              <a:tr h="546981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BTS7960 / L298N Motor Driver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High-current actuator driver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₹600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extLst>
                  <a:ext uri="{0D108BD9-81ED-4DB2-BD59-A6C34878D82A}">
                    <a16:rowId xmlns:a16="http://schemas.microsoft.com/office/drawing/2014/main" val="4248481529"/>
                  </a:ext>
                </a:extLst>
              </a:tr>
              <a:tr h="546981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 Components</a:t>
                      </a:r>
                      <a:endParaRPr lang="en-IN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US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Springs, RC shocks, aluminum extrusions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₹5,000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extLst>
                  <a:ext uri="{0D108BD9-81ED-4DB2-BD59-A6C34878D82A}">
                    <a16:rowId xmlns:a16="http://schemas.microsoft.com/office/drawing/2014/main" val="2964757679"/>
                  </a:ext>
                </a:extLst>
              </a:tr>
              <a:tr h="439374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Miscellaneous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US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Printing/report materials 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IN" sz="1500" u="none" strike="noStrike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₹3,500</a:t>
                      </a:r>
                      <a:endParaRPr lang="en-IN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27" marR="7327" marT="7327" marB="0"/>
                </a:tc>
                <a:extLst>
                  <a:ext uri="{0D108BD9-81ED-4DB2-BD59-A6C34878D82A}">
                    <a16:rowId xmlns:a16="http://schemas.microsoft.com/office/drawing/2014/main" val="240035703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D7834F8-E74F-A0B2-C67D-2BD63248D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54907"/>
              </p:ext>
            </p:extLst>
          </p:nvPr>
        </p:nvGraphicFramePr>
        <p:xfrm>
          <a:off x="1809363" y="5283429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200358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8069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Grand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333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61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44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(PHASE-1)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CD41CBB-D801-4988-72C1-4E81D7606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183531"/>
              </p:ext>
            </p:extLst>
          </p:nvPr>
        </p:nvGraphicFramePr>
        <p:xfrm>
          <a:off x="1526651" y="1708753"/>
          <a:ext cx="8407624" cy="39048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9958">
                  <a:extLst>
                    <a:ext uri="{9D8B030D-6E8A-4147-A177-3AD203B41FA5}">
                      <a16:colId xmlns:a16="http://schemas.microsoft.com/office/drawing/2014/main" val="497335542"/>
                    </a:ext>
                  </a:extLst>
                </a:gridCol>
                <a:gridCol w="1884459">
                  <a:extLst>
                    <a:ext uri="{9D8B030D-6E8A-4147-A177-3AD203B41FA5}">
                      <a16:colId xmlns:a16="http://schemas.microsoft.com/office/drawing/2014/main" val="3792972282"/>
                    </a:ext>
                  </a:extLst>
                </a:gridCol>
                <a:gridCol w="866692">
                  <a:extLst>
                    <a:ext uri="{9D8B030D-6E8A-4147-A177-3AD203B41FA5}">
                      <a16:colId xmlns:a16="http://schemas.microsoft.com/office/drawing/2014/main" val="854900682"/>
                    </a:ext>
                  </a:extLst>
                </a:gridCol>
                <a:gridCol w="985962">
                  <a:extLst>
                    <a:ext uri="{9D8B030D-6E8A-4147-A177-3AD203B41FA5}">
                      <a16:colId xmlns:a16="http://schemas.microsoft.com/office/drawing/2014/main" val="2179314912"/>
                    </a:ext>
                  </a:extLst>
                </a:gridCol>
                <a:gridCol w="857694">
                  <a:extLst>
                    <a:ext uri="{9D8B030D-6E8A-4147-A177-3AD203B41FA5}">
                      <a16:colId xmlns:a16="http://schemas.microsoft.com/office/drawing/2014/main" val="3369756023"/>
                    </a:ext>
                  </a:extLst>
                </a:gridCol>
                <a:gridCol w="1050953">
                  <a:extLst>
                    <a:ext uri="{9D8B030D-6E8A-4147-A177-3AD203B41FA5}">
                      <a16:colId xmlns:a16="http://schemas.microsoft.com/office/drawing/2014/main" val="2064449102"/>
                    </a:ext>
                  </a:extLst>
                </a:gridCol>
                <a:gridCol w="1050953">
                  <a:extLst>
                    <a:ext uri="{9D8B030D-6E8A-4147-A177-3AD203B41FA5}">
                      <a16:colId xmlns:a16="http://schemas.microsoft.com/office/drawing/2014/main" val="107177666"/>
                    </a:ext>
                  </a:extLst>
                </a:gridCol>
                <a:gridCol w="1050953">
                  <a:extLst>
                    <a:ext uri="{9D8B030D-6E8A-4147-A177-3AD203B41FA5}">
                      <a16:colId xmlns:a16="http://schemas.microsoft.com/office/drawing/2014/main" val="179567477"/>
                    </a:ext>
                  </a:extLst>
                </a:gridCol>
              </a:tblGrid>
              <a:tr h="366208">
                <a:tc rowSpan="2">
                  <a:txBody>
                    <a:bodyPr/>
                    <a:lstStyle/>
                    <a:p>
                      <a:pPr marL="180340" indent="-180340" algn="ctr">
                        <a:spcBef>
                          <a:spcPts val="1330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SL.NO.</a:t>
                      </a:r>
                      <a:endParaRPr lang="en-IN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80340" indent="-180340" algn="ctr">
                        <a:spcBef>
                          <a:spcPts val="1330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r>
                        <a:rPr lang="en-US" sz="1500" spc="-4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180340" indent="-180340" algn="ctr">
                        <a:spcBef>
                          <a:spcPts val="305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438593"/>
                  </a:ext>
                </a:extLst>
              </a:tr>
              <a:tr h="1915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305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305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305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305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305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305"/>
                        </a:spcBef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5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</a:t>
                      </a:r>
                      <a:endParaRPr lang="en-IN" sz="1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39710105"/>
                  </a:ext>
                </a:extLst>
              </a:tr>
              <a:tr h="45381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2283005"/>
                  </a:ext>
                </a:extLst>
              </a:tr>
              <a:tr h="57617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&amp; system analysis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56426958"/>
                  </a:ext>
                </a:extLst>
              </a:tr>
              <a:tr h="604299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 and Development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25124566"/>
                  </a:ext>
                </a:extLst>
              </a:tr>
              <a:tr h="556591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 testing &amp; installation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9995180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Writing report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59977705"/>
                  </a:ext>
                </a:extLst>
              </a:tr>
              <a:tr h="570532"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30958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220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36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Road Map for Phase-2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4885"/>
            <a:ext cx="10515600" cy="4902078"/>
          </a:xfrm>
        </p:spPr>
        <p:txBody>
          <a:bodyPr>
            <a:normAutofit lnSpcReduction="10000"/>
          </a:bodyPr>
          <a:lstStyle/>
          <a:p>
            <a:pPr lvl="0"/>
            <a:r>
              <a:rPr lang="en-IN" b="1"/>
              <a:t>Dataset Utilization:</a:t>
            </a:r>
            <a:r>
              <a:rPr lang="en-IN"/>
              <a:t> Use the continuous data logged during Phase-1 physical testing to build a foundation for data-driven suspension analysis. </a:t>
            </a:r>
          </a:p>
          <a:p>
            <a:pPr lvl="0"/>
            <a:r>
              <a:rPr lang="en-IN" b="1"/>
              <a:t>Machine Learning Integration:</a:t>
            </a:r>
            <a:r>
              <a:rPr lang="en-IN"/>
              <a:t> Develop and implement AI-based road-profile prediction and intelligent suspension control algorithms using the Phase-1 baseline data. </a:t>
            </a:r>
          </a:p>
          <a:p>
            <a:pPr lvl="0"/>
            <a:r>
              <a:rPr lang="en-IN" b="1"/>
              <a:t>Advanced Controller Testing:</a:t>
            </a:r>
            <a:r>
              <a:rPr lang="en-IN"/>
              <a:t> Replace the baseline PID controller with advanced algorithms (such as adaptive, fuzzy, or optimal control) and evaluate them on the STM32 hardware. </a:t>
            </a:r>
          </a:p>
          <a:p>
            <a:pPr lvl="0"/>
            <a:r>
              <a:rPr lang="en-IN" b="1"/>
              <a:t>Comparative Performance Analysis:</a:t>
            </a:r>
            <a:r>
              <a:rPr lang="en-IN"/>
              <a:t> Conduct systematic experiments comparing the new machine-learning-based active control against the passive and PID benchmarks established in Phase 1</a:t>
            </a:r>
          </a:p>
        </p:txBody>
      </p:sp>
    </p:spTree>
    <p:extLst>
      <p:ext uri="{BB962C8B-B14F-4D97-AF65-F5344CB8AC3E}">
        <p14:creationId xmlns:p14="http://schemas.microsoft.com/office/powerpoint/2010/main" val="2558632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16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6623"/>
            <a:ext cx="10515600" cy="5060340"/>
          </a:xfrm>
        </p:spPr>
        <p:txBody>
          <a:bodyPr>
            <a:noAutofit/>
          </a:bodyPr>
          <a:lstStyle/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Mahmoodabadi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Nejadkourki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“Optimal fuzzy adaptive robust PID control for an active suspension system,” Australian Journal of Mechanical Engineering, 2022.</a:t>
            </a:r>
          </a:p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Shafiei, “A review on PID control system simulation of the active suspension system of a quarter car model while hitting road bumps,” 2022.</a:t>
            </a:r>
          </a:p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Maradey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Lázaro et al., “Optimal Control of an Active Suspension System Applying Distributed Parameter Simulation Test,” 2023.</a:t>
            </a:r>
          </a:p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Abut &amp;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Salkim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“Control of Quarter-Car Active Suspension System Based on Optimized Fuzzy Linear Quadratic Regulator Control Method,” 2023.</a:t>
            </a:r>
          </a:p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Sistla et al., “Design and implementation of passivity-based controller for active suspension system using port-Hamiltonian observer,” 2023.</a:t>
            </a:r>
          </a:p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Watanabe, Prasad &amp; Sakai, “Delayed feedback active suspension control for chaos in quarter car model with jumping nonlinearity,” 2024.</a:t>
            </a:r>
          </a:p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Abbas &amp; Youn, “Performance Improvement of Active Suspension System Collaborating with an Active Airfoil Based on a Quarter-Car Model,” 2024.</a:t>
            </a:r>
          </a:p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Wang et al., “Mechanism-data-driven control strategy for active suspension systems,” Advanced Engineering Informatics, 2025.</a:t>
            </a:r>
          </a:p>
          <a:p>
            <a:pPr marL="0" indent="0">
              <a:buNone/>
              <a:defRPr sz="9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Meng et al., “Research on Active Suspension Control Based on Vehicle Speed Control Under Transient Pavement Excitation,” 2025.</a:t>
            </a:r>
          </a:p>
        </p:txBody>
      </p:sp>
    </p:spTree>
    <p:extLst>
      <p:ext uri="{BB962C8B-B14F-4D97-AF65-F5344CB8AC3E}">
        <p14:creationId xmlns:p14="http://schemas.microsoft.com/office/powerpoint/2010/main" val="1775815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7" y="24225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67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1187</Words>
  <Application>Microsoft Office PowerPoint</Application>
  <PresentationFormat>Widescreen</PresentationFormat>
  <Paragraphs>197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INTELLIGENT ACTIVE SUSPENSION SYSTEM  KL Deemed to be University Aziz Nagar Campus  Department of ECE</vt:lpstr>
      <vt:lpstr>Introduction</vt:lpstr>
      <vt:lpstr>Problem Statements</vt:lpstr>
      <vt:lpstr>Objectives</vt:lpstr>
      <vt:lpstr>Scopes of the project</vt:lpstr>
      <vt:lpstr>Literature Reviews</vt:lpstr>
      <vt:lpstr>Research Gap</vt:lpstr>
      <vt:lpstr>Methodology</vt:lpstr>
      <vt:lpstr>Expected Outcomes</vt:lpstr>
      <vt:lpstr>Financial Arrangements</vt:lpstr>
      <vt:lpstr>Duration</vt:lpstr>
      <vt:lpstr>Road Map for Phase-2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 Deemed to be University Aziz Nagar Campus Department of ECE</dc:title>
  <dc:creator>klh</dc:creator>
  <cp:lastModifiedBy>Aniket Panda</cp:lastModifiedBy>
  <cp:revision>23</cp:revision>
  <dcterms:created xsi:type="dcterms:W3CDTF">2026-08-01T05:22:34Z</dcterms:created>
  <dcterms:modified xsi:type="dcterms:W3CDTF">2026-09-28T15:39:41Z</dcterms:modified>
</cp:coreProperties>
</file>